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68" r:id="rId1"/>
  </p:sldMasterIdLst>
  <p:notesMasterIdLst>
    <p:notesMasterId r:id="rId18"/>
  </p:notesMasterIdLst>
  <p:handoutMasterIdLst>
    <p:handoutMasterId r:id="rId19"/>
  </p:handoutMasterIdLst>
  <p:sldIdLst>
    <p:sldId id="256" r:id="rId2"/>
    <p:sldId id="258" r:id="rId3"/>
    <p:sldId id="259" r:id="rId4"/>
    <p:sldId id="294" r:id="rId5"/>
    <p:sldId id="295" r:id="rId6"/>
    <p:sldId id="299" r:id="rId7"/>
    <p:sldId id="305" r:id="rId8"/>
    <p:sldId id="306" r:id="rId9"/>
    <p:sldId id="307" r:id="rId10"/>
    <p:sldId id="296" r:id="rId11"/>
    <p:sldId id="301" r:id="rId12"/>
    <p:sldId id="302" r:id="rId13"/>
    <p:sldId id="303" r:id="rId14"/>
    <p:sldId id="300" r:id="rId15"/>
    <p:sldId id="304" r:id="rId16"/>
    <p:sldId id="264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B1E370F6-7DF4-F54D-B9DF-9D5D591BEA5B}">
          <p14:sldIdLst>
            <p14:sldId id="256"/>
            <p14:sldId id="258"/>
            <p14:sldId id="259"/>
            <p14:sldId id="294"/>
            <p14:sldId id="295"/>
            <p14:sldId id="299"/>
            <p14:sldId id="305"/>
            <p14:sldId id="306"/>
            <p14:sldId id="307"/>
            <p14:sldId id="296"/>
            <p14:sldId id="301"/>
            <p14:sldId id="302"/>
            <p14:sldId id="303"/>
            <p14:sldId id="300"/>
            <p14:sldId id="304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201"/>
    <p:restoredTop sz="94658"/>
  </p:normalViewPr>
  <p:slideViewPr>
    <p:cSldViewPr snapToGrid="0">
      <p:cViewPr varScale="1">
        <p:scale>
          <a:sx n="119" d="100"/>
          <a:sy n="119" d="100"/>
        </p:scale>
        <p:origin x="1344" y="4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00BAE4D-1DF5-DBC8-C0E1-341A698F0B9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7055B0-A7BF-D385-29FD-1C647D2CAD3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8EEF22-1558-4F4E-E780-476DE05D471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A91834-0B04-3E19-155D-1ADB0692095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F13574-AD33-664A-9A18-59BB3DCAFFDB}" type="slidenum">
              <a:rPr lang="en-GB" smtClean="0"/>
              <a:t>‹#›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4E0F55C-F448-81FB-ADC7-496DCE5E0F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-11112"/>
            <a:ext cx="1905000" cy="46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0781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884A5F-B9F5-9B43-BE5B-EBBCD5646595}" type="datetimeFigureOut">
              <a:rPr lang="en-US" smtClean="0"/>
              <a:t>3/8/25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91FFD5-F11F-1A49-B4BA-FB7EDA4EBC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3986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91FFD5-F11F-1A49-B4BA-FB7EDA4EBC1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8260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FF5544-6753-F0D9-26E4-7993702C93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94E35E-58FB-8752-7273-2191434ACF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1C72E0-55A2-EC66-1813-FB9D5A5113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34B817-0B39-AB12-768C-E069AB380B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91FFD5-F11F-1A49-B4BA-FB7EDA4EBC1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33715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C69E4C-B3A9-C7EC-9AFF-67D24E1246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BFBF5D-3E8E-3523-EEFF-94E537AF12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9C3826-FD65-2D72-D486-31B6E4060F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3ED310-0794-19B7-91D9-D4EE9511F7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91FFD5-F11F-1A49-B4BA-FB7EDA4EBC1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0007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8CA64B-D3D0-6E7B-7380-DFBCB7D227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1167E8-0C27-201A-AB16-7F23DB34A8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BAFB8D-53B2-F0AC-2CA4-4EE1155142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2E68FD-8B30-6DC3-8ACC-5817568BCA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91FFD5-F11F-1A49-B4BA-FB7EDA4EBC1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2858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EF6C3-B493-2259-ED55-4CBBC1AF6A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BFE57E-FB3A-397D-2D1B-D412BB634C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031C06-478B-181B-6B7D-914BCFA140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7C117E-DEA9-EC0A-A091-D140E755BD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91FFD5-F11F-1A49-B4BA-FB7EDA4EBC1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0505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3CD9E7-7DA4-4A36-00A6-9542173087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89D857-3B63-C13E-E72D-78D5C33FCE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C2FBBE-F0A8-41A4-0C32-A29FE19EBD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D70D16-C457-E21F-D72E-C139FB2EAB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91FFD5-F11F-1A49-B4BA-FB7EDA4EBC1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145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0AF142-81EB-5504-A94C-B15500673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0FB164-50CA-D6CA-F4CF-345AF1175C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AFB5DD-4289-1148-E2A0-FD1163FC30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BA4ECA-2921-B5D3-22EC-D5058195CF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91FFD5-F11F-1A49-B4BA-FB7EDA4EBC1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3382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7E66DB-BF6F-A8F0-8406-172295C5AA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5B2E38-4189-4D6A-563B-927372719A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72E52D-A6F5-3698-A4C5-147C464527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10E0AE-8443-6561-AF59-8A96C4BA8D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91FFD5-F11F-1A49-B4BA-FB7EDA4EBC1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2481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68CEFA-5C60-EAB9-CD24-FE974AF93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975684-A95C-484D-7E16-3CA0A93F1C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E8FD88-34D2-25D6-4B1A-6A96741810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6C7862-8341-B5EF-4314-78E8137269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91FFD5-F11F-1A49-B4BA-FB7EDA4EBC1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6868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FD0382-69B0-2C8C-5011-6741E3ED79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C8E739-A20F-88F9-A4B5-C7ED227E7A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99694E-5D16-E5D8-7F29-8187209060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2AEEC8-56E3-F164-21D9-9344FBF5CB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91FFD5-F11F-1A49-B4BA-FB7EDA4EBC1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96610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895CA9-7F67-960B-6C1A-3AC2E103A6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2B4646-175E-DAC5-3F52-6CD24F593A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8CF598-9ABF-4AAF-5B0D-4321056B17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D59664-596F-B19C-CC30-20122EA4B2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91FFD5-F11F-1A49-B4BA-FB7EDA4EBC1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823825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1DF51B-E3C9-98DA-DA9F-6F1DCCBF0D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DF555E-4F1B-CE34-B148-91CE22FA21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59428F-028B-0165-75E0-52B6CE38DB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E88740-A715-335B-0A87-ED21E04462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91FFD5-F11F-1A49-B4BA-FB7EDA4EBC19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1483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71460B-A0BD-01C8-DD9F-A61BA07E36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A76344-1570-A619-1D2B-7AA4ECB56C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BBD817-4BF4-EE1A-591B-F5D920A8D2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B9A210-234A-1598-0EF2-138D61C2C7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91FFD5-F11F-1A49-B4BA-FB7EDA4EBC19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16978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F6FA2B21-3FCD-4721-B95C-427943F61125}" type="datetime1">
              <a:rPr lang="en-US" smtClean="0"/>
              <a:t>3/8/25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031889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2B432-ACDA-4023-A761-2BAB76577B62}" type="datetime1">
              <a:rPr lang="en-US" smtClean="0"/>
              <a:t>3/8/25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1769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9C646AA-F36E-4540-911D-FFFC0A0EF24A}" type="datetime1">
              <a:rPr lang="en-US" smtClean="0"/>
              <a:t>3/8/25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35931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6D26-FA5F-4637-B602-B7C2DC34CFD4}" type="datetime1">
              <a:rPr lang="en-US" smtClean="0"/>
              <a:t>3/8/25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9626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F15D8-96D1-4781-BC50-CA8A088B2FE4}" type="datetime1">
              <a:rPr lang="en-US" smtClean="0"/>
              <a:t>3/8/25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7230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96C99-B8F8-4528-BD05-0E16E943DC09}" type="datetime1">
              <a:rPr lang="en-US" smtClean="0"/>
              <a:t>3/8/25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1415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36942-C211-4B28-8DBD-C953E00AF71B}" type="datetime1">
              <a:rPr lang="en-US" smtClean="0"/>
              <a:t>3/8/25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2083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7E8D12A6-918A-48BD-8CB9-CA713993B0EA}" type="datetime1">
              <a:rPr lang="en-US" smtClean="0"/>
              <a:t>3/8/25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8857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A2B21-3FCD-4721-B95C-427943F61125}" type="datetime1">
              <a:rPr lang="en-US" smtClean="0"/>
              <a:t>3/8/25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41496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A2B21-3FCD-4721-B95C-427943F61125}" type="datetime1">
              <a:rPr lang="en-US" smtClean="0"/>
              <a:t>3/8/25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263426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F6FA2B21-3FCD-4721-B95C-427943F61125}" type="datetime1">
              <a:rPr lang="en-US" smtClean="0"/>
              <a:t>3/8/25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26701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EA0C0817-A112-4847-8014-A94B7D2A4EA3}" type="datetime1">
              <a:rPr lang="en-US" smtClean="0"/>
              <a:t>3/8/25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A9A0F2-F2C7-E2AE-DD72-C2CA527AAF3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958961" y="0"/>
            <a:ext cx="1231557" cy="444500"/>
          </a:xfrm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  <p:pic>
        <p:nvPicPr>
          <p:cNvPr id="11" name="Picture 10" descr="A yellow sign with black text&#10;&#10;Description automatically generated">
            <a:extLst>
              <a:ext uri="{FF2B5EF4-FFF2-40B4-BE49-F238E27FC236}">
                <a16:creationId xmlns:a16="http://schemas.microsoft.com/office/drawing/2014/main" id="{27AD493B-BD62-381E-8858-C07EE1CDC9F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48310" y="0"/>
            <a:ext cx="1743689" cy="430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8072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F6FA2B21-3FCD-4721-B95C-427943F61125}" type="datetime1">
              <a:rPr lang="en-US" smtClean="0"/>
              <a:t>3/8/25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7" name="Picture 6" descr="A yellow sign with black text&#10;&#10;Description automatically generated">
            <a:extLst>
              <a:ext uri="{FF2B5EF4-FFF2-40B4-BE49-F238E27FC236}">
                <a16:creationId xmlns:a16="http://schemas.microsoft.com/office/drawing/2014/main" id="{2A5087A0-D020-5E80-4D95-C1A2BD6B3097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450750" y="9361"/>
            <a:ext cx="1741250" cy="429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51500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69" r:id="rId1"/>
    <p:sldLayoutId id="2147483970" r:id="rId2"/>
    <p:sldLayoutId id="2147483971" r:id="rId3"/>
    <p:sldLayoutId id="2147483972" r:id="rId4"/>
    <p:sldLayoutId id="2147483973" r:id="rId5"/>
    <p:sldLayoutId id="2147483974" r:id="rId6"/>
    <p:sldLayoutId id="2147483975" r:id="rId7"/>
    <p:sldLayoutId id="2147483976" r:id="rId8"/>
    <p:sldLayoutId id="2147483977" r:id="rId9"/>
    <p:sldLayoutId id="2147483978" r:id="rId10"/>
    <p:sldLayoutId id="2147483979" r:id="rId11"/>
    <p:sldLayoutId id="2147483980" r:id="rId12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Network Technology Background">
            <a:extLst>
              <a:ext uri="{FF2B5EF4-FFF2-40B4-BE49-F238E27FC236}">
                <a16:creationId xmlns:a16="http://schemas.microsoft.com/office/drawing/2014/main" id="{A7997F61-D8B6-EBC7-8970-D0DBC50DE92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434"/>
          <a:stretch/>
        </p:blipFill>
        <p:spPr>
          <a:xfrm>
            <a:off x="0" y="462464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7DCC1F8-0C31-FBD0-ADA3-C5F8D4F163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599" y="4204138"/>
            <a:ext cx="10965142" cy="1263106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GB" sz="4000" dirty="0">
                <a:solidFill>
                  <a:schemeClr val="tx1"/>
                </a:solidFill>
              </a:rPr>
              <a:t>React full stack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CDDF65-AE5B-3706-129A-12524D89FA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598" y="5467246"/>
            <a:ext cx="10965142" cy="48482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/>
              <a:t>Full stack Skills Bootcamp</a:t>
            </a:r>
            <a:endParaRPr lang="en-US" dirty="0">
              <a:solidFill>
                <a:srgbClr val="6CD0E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20883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0EC6C-4AE1-B116-58AB-212E68258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anchor="b">
            <a:normAutofit/>
          </a:bodyPr>
          <a:lstStyle/>
          <a:p>
            <a:r>
              <a:rPr lang="en-GB" dirty="0"/>
              <a:t>Online Knowledge Base Platform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03B9B7-69BD-DA3B-DA39-22C51B9D92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 anchor="ctr">
            <a:normAutofit/>
          </a:bodyPr>
          <a:lstStyle/>
          <a:p>
            <a:r>
              <a:rPr lang="en-GB" b="1" dirty="0"/>
              <a:t>Lesson Overview:</a:t>
            </a:r>
          </a:p>
          <a:p>
            <a:r>
              <a:rPr lang="en-GB" dirty="0"/>
              <a:t>In this lesson, we will be introduced to:</a:t>
            </a:r>
            <a:br>
              <a:rPr lang="en-GB" dirty="0"/>
            </a:br>
            <a:endParaRPr lang="en-GB" dirty="0"/>
          </a:p>
          <a:p>
            <a:pPr>
              <a:buFont typeface="+mj-lt"/>
              <a:buAutoNum type="arabicPeriod"/>
            </a:pPr>
            <a:r>
              <a:rPr lang="en-GB" dirty="0"/>
              <a:t>Introduction to the Challenge</a:t>
            </a:r>
          </a:p>
          <a:p>
            <a:pPr>
              <a:buFont typeface="+mj-lt"/>
              <a:buAutoNum type="arabicPeriod"/>
            </a:pPr>
            <a:r>
              <a:rPr lang="en-GB" dirty="0"/>
              <a:t>Key Learnings</a:t>
            </a:r>
          </a:p>
          <a:p>
            <a:pPr>
              <a:buFont typeface="+mj-lt"/>
              <a:buAutoNum type="arabicPeriod"/>
            </a:pPr>
            <a:r>
              <a:rPr lang="en-GB" dirty="0"/>
              <a:t>Project Requirements</a:t>
            </a:r>
          </a:p>
          <a:p>
            <a:pPr>
              <a:buFont typeface="+mj-lt"/>
              <a:buAutoNum type="arabicPeriod"/>
            </a:pPr>
            <a:r>
              <a:rPr lang="en-GB" dirty="0"/>
              <a:t>Team Structure</a:t>
            </a:r>
          </a:p>
          <a:p>
            <a:pPr>
              <a:buFont typeface="+mj-lt"/>
              <a:buAutoNum type="arabicPeriod"/>
            </a:pPr>
            <a:r>
              <a:rPr lang="en-GB" dirty="0"/>
              <a:t>Acceptance Criteria</a:t>
            </a:r>
          </a:p>
        </p:txBody>
      </p:sp>
    </p:spTree>
    <p:extLst>
      <p:ext uri="{BB962C8B-B14F-4D97-AF65-F5344CB8AC3E}">
        <p14:creationId xmlns:p14="http://schemas.microsoft.com/office/powerpoint/2010/main" val="21129654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D69EB-42C6-BBE7-4191-2CACF89B9B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anchor="b">
            <a:normAutofit/>
          </a:bodyPr>
          <a:lstStyle/>
          <a:p>
            <a:r>
              <a:rPr lang="en-GB" dirty="0"/>
              <a:t>Introduction to the Challenge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AEFC59-A100-3F49-F885-8DA5AADABF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192" y="2228003"/>
            <a:ext cx="5514807" cy="4214838"/>
          </a:xfrm>
        </p:spPr>
        <p:txBody>
          <a:bodyPr anchor="ctr">
            <a:normAutofit/>
          </a:bodyPr>
          <a:lstStyle/>
          <a:p>
            <a:r>
              <a:rPr lang="en-GB" b="1" dirty="0"/>
              <a:t>Purpose</a:t>
            </a:r>
            <a:r>
              <a:rPr lang="en-GB" dirty="0"/>
              <a:t>: </a:t>
            </a:r>
            <a:br>
              <a:rPr lang="en-GB" dirty="0"/>
            </a:br>
            <a:r>
              <a:rPr lang="en-GB" dirty="0"/>
              <a:t>A platform for managing and sharing technical articles securely.</a:t>
            </a:r>
          </a:p>
          <a:p>
            <a:r>
              <a:rPr lang="en-GB" b="1" dirty="0"/>
              <a:t>Frontend</a:t>
            </a:r>
            <a:r>
              <a:rPr lang="en-GB" dirty="0"/>
              <a:t>: Built using </a:t>
            </a:r>
            <a:r>
              <a:rPr lang="en-GB" b="1" dirty="0"/>
              <a:t>React</a:t>
            </a:r>
            <a:r>
              <a:rPr lang="en-GB" dirty="0"/>
              <a:t> (</a:t>
            </a:r>
            <a:r>
              <a:rPr lang="en-GB" dirty="0" err="1"/>
              <a:t>Vite</a:t>
            </a:r>
            <a:r>
              <a:rPr lang="en-GB" dirty="0"/>
              <a:t> framework) for a dynamic user experience.</a:t>
            </a:r>
          </a:p>
          <a:p>
            <a:r>
              <a:rPr lang="en-GB" b="1" dirty="0"/>
              <a:t>Backend</a:t>
            </a:r>
            <a:r>
              <a:rPr lang="en-GB" dirty="0"/>
              <a:t>: Powered by </a:t>
            </a:r>
            <a:r>
              <a:rPr lang="en-GB" b="1" dirty="0"/>
              <a:t>NodeJS/</a:t>
            </a:r>
            <a:r>
              <a:rPr lang="en-GB" b="1" dirty="0" err="1"/>
              <a:t>Sequelize</a:t>
            </a:r>
            <a:r>
              <a:rPr lang="en-GB" b="1" dirty="0"/>
              <a:t> ORM</a:t>
            </a:r>
            <a:r>
              <a:rPr lang="en-GB" dirty="0"/>
              <a:t>, offering a secure and scalable API for data handling.</a:t>
            </a:r>
          </a:p>
          <a:p>
            <a:r>
              <a:rPr lang="en-GB" b="1" dirty="0"/>
              <a:t>Goal</a:t>
            </a:r>
            <a:r>
              <a:rPr lang="en-GB" dirty="0"/>
              <a:t>: Enhance functionality and fix issues to create a robust knowledge-sharing tool.</a:t>
            </a:r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67CFE86F-C7E9-634E-1EA1-A75588674C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6543" y="2564906"/>
            <a:ext cx="5109203" cy="3541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9247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4F4E8A-486A-2A28-641E-49834027C8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38870E-96B8-77F6-1D2B-B305F7946A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anchor="b">
            <a:normAutofit/>
          </a:bodyPr>
          <a:lstStyle/>
          <a:p>
            <a:r>
              <a:rPr lang="en-GB" dirty="0"/>
              <a:t>Installation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276C5-A7E7-E399-8F6B-9FEBE2596D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 anchor="t">
            <a:normAutofit/>
          </a:bodyPr>
          <a:lstStyle/>
          <a:p>
            <a:r>
              <a:rPr lang="en-GB" dirty="0"/>
              <a:t>Clone the Repository</a:t>
            </a:r>
          </a:p>
        </p:txBody>
      </p:sp>
      <p:pic>
        <p:nvPicPr>
          <p:cNvPr id="6" name="Picture 5" descr="A close up of a black background&#10;&#10;AI-generated content may be incorrect.">
            <a:extLst>
              <a:ext uri="{FF2B5EF4-FFF2-40B4-BE49-F238E27FC236}">
                <a16:creationId xmlns:a16="http://schemas.microsoft.com/office/drawing/2014/main" id="{BE4C344A-38AA-191A-A10D-E321645A58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662" y="3086100"/>
            <a:ext cx="6667500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69931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9990DB-F106-7905-A8D0-4A88C162F1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0FC5C-94D3-FF52-0A61-780824DF7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anchor="b">
            <a:normAutofit/>
          </a:bodyPr>
          <a:lstStyle/>
          <a:p>
            <a:r>
              <a:rPr lang="en-GB" dirty="0"/>
              <a:t>Setting up: </a:t>
            </a:r>
            <a:r>
              <a:rPr lang="en-GB" b="1" i="0" dirty="0">
                <a:solidFill>
                  <a:srgbClr val="F0F6FC"/>
                </a:solidFill>
                <a:effectLst/>
                <a:latin typeface="-apple-system"/>
              </a:rPr>
              <a:t>Create the Database</a:t>
            </a:r>
            <a:br>
              <a:rPr lang="en-GB" b="1" i="0" dirty="0">
                <a:solidFill>
                  <a:srgbClr val="F0F6FC"/>
                </a:solidFill>
                <a:effectLst/>
                <a:latin typeface="-apple-system"/>
              </a:rPr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6F545F-5FCB-5816-EB32-050A24AB6F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 anchor="t">
            <a:normAutofit/>
          </a:bodyPr>
          <a:lstStyle/>
          <a:p>
            <a:r>
              <a:rPr lang="en-GB" dirty="0"/>
              <a:t>Navigate to root folder.</a:t>
            </a:r>
            <a:br>
              <a:rPr lang="en-GB" dirty="0"/>
            </a:br>
            <a:br>
              <a:rPr lang="en-GB" dirty="0"/>
            </a:br>
            <a:r>
              <a:rPr lang="en-GB" dirty="0"/>
              <a:t>Login to MySQL to create the database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B14616C-6200-7365-FACD-FA9C80CE60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409" y="3321597"/>
            <a:ext cx="2717800" cy="520700"/>
          </a:xfrm>
          <a:prstGeom prst="rect">
            <a:avLst/>
          </a:prstGeom>
        </p:spPr>
      </p:pic>
      <p:pic>
        <p:nvPicPr>
          <p:cNvPr id="8" name="Picture 7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380843D2-ECF2-6D2A-A541-412B628C18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409" y="4674870"/>
            <a:ext cx="3048000" cy="80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11624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589943-0B61-E32C-724C-833F9D2ED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202B5-81FA-CE6F-F8AF-F9AEDC7E78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anchor="b">
            <a:normAutofit/>
          </a:bodyPr>
          <a:lstStyle/>
          <a:p>
            <a:r>
              <a:rPr lang="en-GB" dirty="0"/>
              <a:t>Setting up: install </a:t>
            </a:r>
            <a:r>
              <a:rPr lang="en-GB" b="1" i="0" dirty="0">
                <a:solidFill>
                  <a:srgbClr val="F0F6FC"/>
                </a:solidFill>
                <a:effectLst/>
                <a:latin typeface="-apple-system"/>
              </a:rPr>
              <a:t>Dependencies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950721-5ABA-5AC2-C364-B71557AEC0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 anchor="t">
            <a:normAutofit/>
          </a:bodyPr>
          <a:lstStyle/>
          <a:p>
            <a:r>
              <a:rPr lang="en-GB" dirty="0"/>
              <a:t>Run the following command in the root directory to install dependencies for both server and client: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8EB0777-7BD3-B1FA-18DB-289224C40A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1944" y="3162300"/>
            <a:ext cx="1892300" cy="5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20552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22691A-38C2-09DA-4DA1-27C09ABCD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FD708D-A859-E7B2-8B8C-843759139C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anchor="b">
            <a:normAutofit/>
          </a:bodyPr>
          <a:lstStyle/>
          <a:p>
            <a:r>
              <a:rPr lang="en-GB" dirty="0"/>
              <a:t>Setting up: Set up Environment 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B1A4A3-2066-EE6F-D923-C50E133C36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 anchor="t">
            <a:normAutofit/>
          </a:bodyPr>
          <a:lstStyle/>
          <a:p>
            <a:r>
              <a:rPr lang="en-GB" dirty="0"/>
              <a:t>copy .</a:t>
            </a:r>
            <a:r>
              <a:rPr lang="en-GB" dirty="0" err="1"/>
              <a:t>env.example</a:t>
            </a:r>
            <a:r>
              <a:rPr lang="en-GB" dirty="0"/>
              <a:t> files in the client and server folders, to cerate .env files. In the server folder, change your MySQL password</a:t>
            </a:r>
          </a:p>
          <a:p>
            <a:r>
              <a:rPr lang="en-GB" dirty="0"/>
              <a:t>Seed the Database (Optional)</a:t>
            </a:r>
            <a:br>
              <a:rPr lang="en-GB" dirty="0"/>
            </a:br>
            <a:br>
              <a:rPr lang="en-GB" dirty="0"/>
            </a:br>
            <a:r>
              <a:rPr lang="en-GB" dirty="0"/>
              <a:t>If you want to populate the database with sample data, run:</a:t>
            </a:r>
          </a:p>
          <a:p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77F43BB-0A61-6C0D-0394-EDF454DD59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598" y="4626760"/>
            <a:ext cx="1993900" cy="44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40202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8832EE-CA7D-B7D3-2A3F-3773764EEA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624F4E-C696-DE3D-D00E-7C8B4AE3B5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anchor="b">
            <a:normAutofit/>
          </a:bodyPr>
          <a:lstStyle/>
          <a:p>
            <a:r>
              <a:rPr lang="en-GB" dirty="0"/>
              <a:t>Setting up: START the application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8B440A-702A-6F57-AC76-2DF62C59F5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 anchor="t">
            <a:normAutofit/>
          </a:bodyPr>
          <a:lstStyle/>
          <a:p>
            <a:r>
              <a:rPr lang="en-GB" dirty="0"/>
              <a:t>Run the following command to start the development server:</a:t>
            </a:r>
          </a:p>
          <a:p>
            <a:endParaRPr lang="en-GB" dirty="0"/>
          </a:p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B74199-993D-35A4-1EAF-AF45CAF94F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956" y="3246419"/>
            <a:ext cx="2044700" cy="55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96683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CDCDA3-058B-449D-7316-061B58AEF6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B0B2DE-98E0-043F-7B95-07C30BE56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anchor="b">
            <a:normAutofit/>
          </a:bodyPr>
          <a:lstStyle/>
          <a:p>
            <a:r>
              <a:rPr lang="en-GB" dirty="0"/>
              <a:t>Setting up: Usage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41A25B-5520-D9F1-9311-D971387E6D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 anchor="t">
            <a:normAutofit lnSpcReduction="10000"/>
          </a:bodyPr>
          <a:lstStyle/>
          <a:p>
            <a:r>
              <a:rPr lang="en-GB" dirty="0"/>
              <a:t>Run the following command to start the development server:</a:t>
            </a:r>
          </a:p>
          <a:p>
            <a:endParaRPr lang="en-GB" dirty="0"/>
          </a:p>
          <a:p>
            <a:endParaRPr lang="en-GB" dirty="0"/>
          </a:p>
          <a:p>
            <a:pPr algn="l">
              <a:buFont typeface="Arial" panose="020B0604020202020204" pitchFamily="34" charset="0"/>
              <a:buChar char="•"/>
            </a:pPr>
            <a:r>
              <a:rPr lang="en-GB" dirty="0"/>
              <a:t>Open your browser and navigate to http://localhost:5173 to access the LMS3000 application.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dirty="0"/>
              <a:t>Explore features such as course management, student enrolment, and instructor assignments.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dirty="0"/>
              <a:t>The </a:t>
            </a:r>
            <a:r>
              <a:rPr lang="en-GB" dirty="0" err="1"/>
              <a:t>Sequelize</a:t>
            </a:r>
            <a:r>
              <a:rPr lang="en-GB" dirty="0"/>
              <a:t>/NodeJS backend can be accessed via http://localhost:3001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8523E6-3A01-C5AB-77C9-E5042CE778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956" y="2870200"/>
            <a:ext cx="2044700" cy="55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11056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83A2D5-79EF-6C4B-982A-B0D8EF3227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CCBB0-58ED-9772-C2E0-855EA4A02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anchor="b">
            <a:normAutofit/>
          </a:bodyPr>
          <a:lstStyle/>
          <a:p>
            <a:r>
              <a:rPr lang="en-GB" dirty="0"/>
              <a:t>What Are GitHub Issues?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328E33-DB28-2F65-94EE-1FCCDFB3B5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193" y="2190326"/>
            <a:ext cx="5422390" cy="3633047"/>
          </a:xfrm>
        </p:spPr>
        <p:txBody>
          <a:bodyPr anchor="ctr">
            <a:normAutofit lnSpcReduction="10000"/>
          </a:bodyPr>
          <a:lstStyle/>
          <a:p>
            <a:r>
              <a:rPr lang="en-GB" b="1" dirty="0"/>
              <a:t>Definition</a:t>
            </a:r>
            <a:r>
              <a:rPr lang="en-GB" dirty="0"/>
              <a:t>:</a:t>
            </a:r>
            <a:br>
              <a:rPr lang="en-GB" dirty="0"/>
            </a:br>
            <a:r>
              <a:rPr lang="en-GB" dirty="0"/>
              <a:t>GitHub Issues are tools for tracking tasks, enhancements, and bugs in a project repository.</a:t>
            </a:r>
          </a:p>
          <a:p>
            <a:r>
              <a:rPr lang="en-GB" b="1" dirty="0"/>
              <a:t>Features</a:t>
            </a:r>
            <a:r>
              <a:rPr lang="en-GB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Assign issues to team members.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Add labels for categorization (e.g., bug, feature request, enhancement).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Include detailed descriptions, screenshots, or steps to reproduce.</a:t>
            </a:r>
          </a:p>
          <a:p>
            <a:r>
              <a:rPr lang="en-GB" b="1" dirty="0"/>
              <a:t>Use Case</a:t>
            </a:r>
            <a:r>
              <a:rPr lang="en-GB" dirty="0"/>
              <a:t>: In Step8Up, GitHub Issues define tasks like fixing bugs, adding features, or improving the platform.</a:t>
            </a:r>
          </a:p>
        </p:txBody>
      </p:sp>
      <p:pic>
        <p:nvPicPr>
          <p:cNvPr id="7" name="Picture 6" descr="A screenshot of a black web page&#10;&#10;Description automatically generated">
            <a:extLst>
              <a:ext uri="{FF2B5EF4-FFF2-40B4-BE49-F238E27FC236}">
                <a16:creationId xmlns:a16="http://schemas.microsoft.com/office/drawing/2014/main" id="{E3929E5A-7EA9-29C8-8DDC-3FDDCB9A62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0358" y="1981199"/>
            <a:ext cx="5487205" cy="405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79846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D9BADD-DE23-797C-2EFA-2C5CF3FFD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389C9A-574E-C1B4-7A0B-5DBE87EEC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anchor="b">
            <a:normAutofit/>
          </a:bodyPr>
          <a:lstStyle/>
          <a:p>
            <a:r>
              <a:rPr lang="en-GB" dirty="0"/>
              <a:t>GitHub Pull Requests (PRs)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4D57CB-158D-A4BE-3033-C33EA2AD01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192" y="2190326"/>
            <a:ext cx="5998283" cy="4420681"/>
          </a:xfrm>
        </p:spPr>
        <p:txBody>
          <a:bodyPr anchor="ctr">
            <a:normAutofit fontScale="92500" lnSpcReduction="20000"/>
          </a:bodyPr>
          <a:lstStyle/>
          <a:p>
            <a:r>
              <a:rPr lang="en-GB" b="1" dirty="0"/>
              <a:t>Definition</a:t>
            </a:r>
            <a:r>
              <a:rPr lang="en-GB" dirty="0"/>
              <a:t>:</a:t>
            </a:r>
            <a:br>
              <a:rPr lang="en-GB" dirty="0"/>
            </a:br>
            <a:br>
              <a:rPr lang="en-GB" dirty="0"/>
            </a:br>
            <a:r>
              <a:rPr lang="en-GB" dirty="0"/>
              <a:t>Pull Requests are a way to propose changes to the main codebase.</a:t>
            </a:r>
          </a:p>
          <a:p>
            <a:r>
              <a:rPr lang="en-GB" b="1" dirty="0"/>
              <a:t>Workflow</a:t>
            </a:r>
            <a:r>
              <a:rPr lang="en-GB" dirty="0"/>
              <a:t>:</a:t>
            </a:r>
          </a:p>
          <a:p>
            <a:pPr>
              <a:buFont typeface="+mj-lt"/>
              <a:buAutoNum type="arabicPeriod"/>
            </a:pPr>
            <a:r>
              <a:rPr lang="en-GB" dirty="0"/>
              <a:t>Create a </a:t>
            </a:r>
            <a:r>
              <a:rPr lang="en-GB" b="1" dirty="0"/>
              <a:t>branch</a:t>
            </a:r>
            <a:r>
              <a:rPr lang="en-GB" dirty="0"/>
              <a:t> for your work.</a:t>
            </a:r>
          </a:p>
          <a:p>
            <a:pPr>
              <a:buFont typeface="+mj-lt"/>
              <a:buAutoNum type="arabicPeriod"/>
            </a:pPr>
            <a:r>
              <a:rPr lang="en-GB" dirty="0"/>
              <a:t>Commit changes and push to your fork or branch.</a:t>
            </a:r>
          </a:p>
          <a:p>
            <a:pPr>
              <a:buFont typeface="+mj-lt"/>
              <a:buAutoNum type="arabicPeriod"/>
            </a:pPr>
            <a:r>
              <a:rPr lang="en-GB" dirty="0"/>
              <a:t>Open a Pull Request to merge changes into the main branch.</a:t>
            </a:r>
          </a:p>
          <a:p>
            <a:pPr>
              <a:buFont typeface="+mj-lt"/>
              <a:buAutoNum type="arabicPeriod"/>
            </a:pPr>
            <a:r>
              <a:rPr lang="en-GB" dirty="0"/>
              <a:t>Collaborators review, discuss, and approve your PR.</a:t>
            </a:r>
          </a:p>
          <a:p>
            <a:r>
              <a:rPr lang="en-GB" b="1" dirty="0"/>
              <a:t>Benefits</a:t>
            </a:r>
            <a:r>
              <a:rPr lang="en-GB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Facilitates collaboration.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Tracks changes with detailed commit history.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Ensures code quality through reviews.</a:t>
            </a:r>
          </a:p>
        </p:txBody>
      </p:sp>
    </p:spTree>
    <p:extLst>
      <p:ext uri="{BB962C8B-B14F-4D97-AF65-F5344CB8AC3E}">
        <p14:creationId xmlns:p14="http://schemas.microsoft.com/office/powerpoint/2010/main" val="18229247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9D7AE1-B389-72B8-23C3-609E9D73DB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27ABA-249B-A77F-ECD7-50B01ABF8F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anchor="b">
            <a:normAutofit/>
          </a:bodyPr>
          <a:lstStyle/>
          <a:p>
            <a:r>
              <a:rPr lang="en-GB" dirty="0"/>
              <a:t>Current Developments vs. Bug Fixes and Feature Requests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9AA8C1-5B8D-A9C1-55F2-0328DC9809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192" y="2190326"/>
            <a:ext cx="5998283" cy="4420681"/>
          </a:xfrm>
        </p:spPr>
        <p:txBody>
          <a:bodyPr anchor="ctr">
            <a:normAutofit/>
          </a:bodyPr>
          <a:lstStyle/>
          <a:p>
            <a:r>
              <a:rPr lang="en-GB" b="1" dirty="0"/>
              <a:t>Current Developments</a:t>
            </a:r>
            <a:r>
              <a:rPr lang="en-GB" dirty="0"/>
              <a:t>:</a:t>
            </a:r>
            <a:br>
              <a:rPr lang="en-GB" dirty="0"/>
            </a:br>
            <a:r>
              <a:rPr lang="en-GB" dirty="0"/>
              <a:t>Focus on enhancing the core functionality of the Step8Up Knowledge Base.</a:t>
            </a:r>
          </a:p>
          <a:p>
            <a:r>
              <a:rPr lang="en-GB" b="1" dirty="0"/>
              <a:t>Bug Fixes</a:t>
            </a:r>
            <a:r>
              <a:rPr lang="en-GB" dirty="0"/>
              <a:t>:</a:t>
            </a:r>
            <a:br>
              <a:rPr lang="en-GB" dirty="0"/>
            </a:br>
            <a:r>
              <a:rPr lang="en-GB" dirty="0"/>
              <a:t>Resolve reported issues that hinder the application from functioning as expected.</a:t>
            </a:r>
          </a:p>
          <a:p>
            <a:r>
              <a:rPr lang="en-GB" b="1" dirty="0"/>
              <a:t>Feature Requests</a:t>
            </a:r>
            <a:r>
              <a:rPr lang="en-GB" dirty="0"/>
              <a:t>:</a:t>
            </a:r>
            <a:br>
              <a:rPr lang="en-GB" dirty="0"/>
            </a:br>
            <a:r>
              <a:rPr lang="en-GB" dirty="0"/>
              <a:t>Add new capabilities to the platform, such as: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Improved user authentication.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Enhanced article tagging system.</a:t>
            </a:r>
          </a:p>
        </p:txBody>
      </p:sp>
    </p:spTree>
    <p:extLst>
      <p:ext uri="{BB962C8B-B14F-4D97-AF65-F5344CB8AC3E}">
        <p14:creationId xmlns:p14="http://schemas.microsoft.com/office/powerpoint/2010/main" val="36110044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EAFE30-5696-C1AA-D5BA-D41B441AFE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3A289-E60F-801F-82EF-BC5F3CCDF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anchor="b">
            <a:normAutofit/>
          </a:bodyPr>
          <a:lstStyle/>
          <a:p>
            <a:r>
              <a:rPr lang="en-GB" dirty="0"/>
              <a:t>Updating Progress Using GitHub Issues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87CA59-C7DA-4AE7-1562-E2675398B4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192" y="2190326"/>
            <a:ext cx="5998283" cy="4420681"/>
          </a:xfrm>
        </p:spPr>
        <p:txBody>
          <a:bodyPr anchor="ctr">
            <a:normAutofit/>
          </a:bodyPr>
          <a:lstStyle/>
          <a:p>
            <a:r>
              <a:rPr lang="en-GB" b="1" dirty="0"/>
              <a:t>Workflow:</a:t>
            </a:r>
          </a:p>
          <a:p>
            <a:pPr>
              <a:buFont typeface="+mj-lt"/>
              <a:buAutoNum type="arabicPeriod"/>
            </a:pPr>
            <a:r>
              <a:rPr lang="en-GB" b="1" dirty="0"/>
              <a:t>Assign Yourself</a:t>
            </a:r>
            <a:r>
              <a:rPr lang="en-GB" dirty="0"/>
              <a:t>:</a:t>
            </a:r>
            <a:br>
              <a:rPr lang="en-GB" dirty="0"/>
            </a:br>
            <a:r>
              <a:rPr lang="en-GB" dirty="0"/>
              <a:t>Select an open issue and assign it to yourself.</a:t>
            </a:r>
          </a:p>
          <a:p>
            <a:pPr>
              <a:buFont typeface="+mj-lt"/>
              <a:buAutoNum type="arabicPeriod"/>
            </a:pPr>
            <a:r>
              <a:rPr lang="en-GB" b="1" dirty="0"/>
              <a:t>Communicate Progress</a:t>
            </a:r>
            <a:r>
              <a:rPr lang="en-GB" dirty="0"/>
              <a:t>:</a:t>
            </a:r>
            <a:br>
              <a:rPr lang="en-GB" dirty="0"/>
            </a:br>
            <a:r>
              <a:rPr lang="en-GB" dirty="0"/>
              <a:t>Use comments to provide updates or ask for clarification.</a:t>
            </a:r>
          </a:p>
          <a:p>
            <a:pPr>
              <a:buFont typeface="+mj-lt"/>
              <a:buAutoNum type="arabicPeriod"/>
            </a:pPr>
            <a:r>
              <a:rPr lang="en-GB" b="1" dirty="0"/>
              <a:t>Close the Issue</a:t>
            </a:r>
            <a:r>
              <a:rPr lang="en-GB" dirty="0"/>
              <a:t>:</a:t>
            </a:r>
            <a:br>
              <a:rPr lang="en-GB" dirty="0"/>
            </a:br>
            <a:r>
              <a:rPr lang="en-GB" dirty="0"/>
              <a:t>After completing the task and merging the related Pull Request, mark the issue as resolved.</a:t>
            </a:r>
          </a:p>
          <a:p>
            <a:pPr>
              <a:buFont typeface="+mj-lt"/>
              <a:buAutoNum type="arabicPeriod"/>
            </a:pPr>
            <a:r>
              <a:rPr lang="en-GB" b="1" dirty="0"/>
              <a:t>Keep the Team Updated</a:t>
            </a:r>
            <a:r>
              <a:rPr lang="en-GB" dirty="0"/>
              <a:t>:</a:t>
            </a:r>
            <a:br>
              <a:rPr lang="en-GB" dirty="0"/>
            </a:br>
            <a:r>
              <a:rPr lang="en-GB" dirty="0"/>
              <a:t>Ensure transparency by tagging team members and summarizing changes in the issue thread.</a:t>
            </a:r>
          </a:p>
        </p:txBody>
      </p:sp>
    </p:spTree>
    <p:extLst>
      <p:ext uri="{BB962C8B-B14F-4D97-AF65-F5344CB8AC3E}">
        <p14:creationId xmlns:p14="http://schemas.microsoft.com/office/powerpoint/2010/main" val="16500725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C0A606-44D8-C451-8984-294FC7965F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D60626-13FF-4267-E2D5-48A51F50E2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anchor="b">
            <a:normAutofit/>
          </a:bodyPr>
          <a:lstStyle/>
          <a:p>
            <a:r>
              <a:rPr lang="en-GB" dirty="0"/>
              <a:t>Team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EB84C5-059A-F4B1-2142-53AC20A397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193" y="2190326"/>
            <a:ext cx="5422390" cy="3633047"/>
          </a:xfrm>
        </p:spPr>
        <p:txBody>
          <a:bodyPr anchor="ctr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Team Size:</a:t>
            </a:r>
            <a:r>
              <a:rPr lang="en-GB" dirty="0"/>
              <a:t> 3 members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Time Limit:</a:t>
            </a:r>
            <a:r>
              <a:rPr lang="en-GB" dirty="0"/>
              <a:t> 3 hours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Presentation:</a:t>
            </a:r>
            <a:r>
              <a:rPr lang="en-GB" dirty="0"/>
              <a:t> Showcase your app to the group, explaining your process and contributions.</a:t>
            </a:r>
          </a:p>
        </p:txBody>
      </p:sp>
    </p:spTree>
    <p:extLst>
      <p:ext uri="{BB962C8B-B14F-4D97-AF65-F5344CB8AC3E}">
        <p14:creationId xmlns:p14="http://schemas.microsoft.com/office/powerpoint/2010/main" val="13642273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152238-0EF5-A4B2-EF13-60F89C73F1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2CD58-0473-529A-4CF4-C935185CAE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anchor="b">
            <a:normAutofit/>
          </a:bodyPr>
          <a:lstStyle/>
          <a:p>
            <a:r>
              <a:rPr lang="en-GB" dirty="0"/>
              <a:t>Let’s Build Together!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85DA4A-7D7C-9296-73A6-8D641B3240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192" y="2190326"/>
            <a:ext cx="5514807" cy="3842612"/>
          </a:xfrm>
        </p:spPr>
        <p:txBody>
          <a:bodyPr anchor="ctr">
            <a:normAutofit/>
          </a:bodyPr>
          <a:lstStyle/>
          <a:p>
            <a:r>
              <a:rPr lang="en-GB" b="1" dirty="0"/>
              <a:t>Collaborate</a:t>
            </a:r>
            <a:r>
              <a:rPr lang="en-GB" dirty="0"/>
              <a:t>: </a:t>
            </a:r>
            <a:br>
              <a:rPr lang="en-GB" dirty="0"/>
            </a:br>
            <a:r>
              <a:rPr lang="en-GB" dirty="0"/>
              <a:t>Work as a team to enhance and support the Step8Up Knowledge Base.</a:t>
            </a:r>
          </a:p>
          <a:p>
            <a:r>
              <a:rPr lang="en-GB" b="1" dirty="0"/>
              <a:t>Communicate</a:t>
            </a:r>
            <a:r>
              <a:rPr lang="en-GB" dirty="0"/>
              <a:t>: </a:t>
            </a:r>
            <a:br>
              <a:rPr lang="en-GB" dirty="0"/>
            </a:br>
            <a:r>
              <a:rPr lang="en-GB" dirty="0"/>
              <a:t>Use GitHub Issues and Pull Requests to streamline the development process.</a:t>
            </a:r>
          </a:p>
          <a:p>
            <a:r>
              <a:rPr lang="en-GB" b="1" dirty="0"/>
              <a:t>Contribute</a:t>
            </a:r>
            <a:r>
              <a:rPr lang="en-GB" dirty="0"/>
              <a:t>: </a:t>
            </a:r>
            <a:br>
              <a:rPr lang="en-GB" dirty="0"/>
            </a:br>
            <a:r>
              <a:rPr lang="en-GB" dirty="0"/>
              <a:t>Learn and grow as you tackle real-world project challenges.</a:t>
            </a:r>
          </a:p>
          <a:p>
            <a:r>
              <a:rPr lang="en-GB" b="1" dirty="0"/>
              <a:t>Let’s make Step8Up the go-to platform for technical knowledge sharing!</a:t>
            </a:r>
            <a:r>
              <a:rPr lang="en-GB" dirty="0"/>
              <a:t> 🎉</a:t>
            </a:r>
          </a:p>
        </p:txBody>
      </p:sp>
      <p:pic>
        <p:nvPicPr>
          <p:cNvPr id="5" name="Picture 4" descr="A logo for a company&#10;&#10;Description automatically generated">
            <a:extLst>
              <a:ext uri="{FF2B5EF4-FFF2-40B4-BE49-F238E27FC236}">
                <a16:creationId xmlns:a16="http://schemas.microsoft.com/office/drawing/2014/main" id="{82632AD3-AF5A-4A7D-79E3-9D8E862279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2876" y="2402425"/>
            <a:ext cx="3725917" cy="3725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29692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F4E187-63BA-683D-B61F-11A4E6D447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3077494"/>
            <a:ext cx="11029616" cy="1013800"/>
          </a:xfrm>
        </p:spPr>
        <p:txBody>
          <a:bodyPr>
            <a:normAutofit/>
          </a:bodyPr>
          <a:lstStyle/>
          <a:p>
            <a:pPr algn="ctr"/>
            <a:r>
              <a:rPr lang="en-GB" sz="4000" dirty="0">
                <a:solidFill>
                  <a:schemeClr val="accent1"/>
                </a:solidFill>
              </a:rPr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1881208565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Step8Up Ltd">
      <a:dk1>
        <a:srgbClr val="011892"/>
      </a:dk1>
      <a:lt1>
        <a:srgbClr val="FFFFFF"/>
      </a:lt1>
      <a:dk2>
        <a:srgbClr val="FF9300"/>
      </a:dk2>
      <a:lt2>
        <a:srgbClr val="E7E6E6"/>
      </a:lt2>
      <a:accent1>
        <a:srgbClr val="0E182B"/>
      </a:accent1>
      <a:accent2>
        <a:srgbClr val="F68138"/>
      </a:accent2>
      <a:accent3>
        <a:srgbClr val="A5A5A5"/>
      </a:accent3>
      <a:accent4>
        <a:srgbClr val="FFC000"/>
      </a:accent4>
      <a:accent5>
        <a:srgbClr val="61A9E9"/>
      </a:accent5>
      <a:accent6>
        <a:srgbClr val="90E15D"/>
      </a:accent6>
      <a:hlink>
        <a:srgbClr val="0563C1"/>
      </a:hlink>
      <a:folHlink>
        <a:srgbClr val="954F72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168CC33E-66BB-3D4F-AC4E-4E4FF8B683C4}" vid="{3CAADF33-9D07-F64D-BA70-6AC6839C8F6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Dividend</Template>
  <TotalTime>431</TotalTime>
  <Words>687</Words>
  <Application>Microsoft Macintosh PowerPoint</Application>
  <PresentationFormat>Widescreen</PresentationFormat>
  <Paragraphs>87</Paragraphs>
  <Slides>16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-apple-system</vt:lpstr>
      <vt:lpstr>Aptos</vt:lpstr>
      <vt:lpstr>Aptos Display</vt:lpstr>
      <vt:lpstr>Arial</vt:lpstr>
      <vt:lpstr>Wingdings 2</vt:lpstr>
      <vt:lpstr>Dividend</vt:lpstr>
      <vt:lpstr>React full stack</vt:lpstr>
      <vt:lpstr>Online Knowledge Base Platform</vt:lpstr>
      <vt:lpstr>Introduction to the Challenge</vt:lpstr>
      <vt:lpstr>Installation</vt:lpstr>
      <vt:lpstr>Setting up: Create the Database </vt:lpstr>
      <vt:lpstr>Setting up: install Dependencies</vt:lpstr>
      <vt:lpstr>Setting up: Set up Environment Variables</vt:lpstr>
      <vt:lpstr>Setting up: START the application</vt:lpstr>
      <vt:lpstr>Setting up: Usage</vt:lpstr>
      <vt:lpstr>What Are GitHub Issues?</vt:lpstr>
      <vt:lpstr>GitHub Pull Requests (PRs)</vt:lpstr>
      <vt:lpstr>Current Developments vs. Bug Fixes and Feature Requests</vt:lpstr>
      <vt:lpstr>Updating Progress Using GitHub Issues</vt:lpstr>
      <vt:lpstr>Team Structure</vt:lpstr>
      <vt:lpstr>Let’s Build Together!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the Terminal, GitHub, and VSCode</dc:title>
  <dc:creator>Jason Sammon</dc:creator>
  <cp:lastModifiedBy>Jason Sammon</cp:lastModifiedBy>
  <cp:revision>15</cp:revision>
  <dcterms:created xsi:type="dcterms:W3CDTF">2024-09-09T14:17:17Z</dcterms:created>
  <dcterms:modified xsi:type="dcterms:W3CDTF">2025-03-08T15:58:54Z</dcterms:modified>
</cp:coreProperties>
</file>